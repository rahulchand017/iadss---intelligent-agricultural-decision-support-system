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919" r:id="rId3"/>
    <p:sldId id="934" r:id="rId4"/>
    <p:sldId id="920" r:id="rId5"/>
    <p:sldId id="921" r:id="rId6"/>
    <p:sldId id="944" r:id="rId7"/>
    <p:sldId id="953" r:id="rId8"/>
    <p:sldId id="954" r:id="rId9"/>
    <p:sldId id="922" r:id="rId10"/>
    <p:sldId id="935" r:id="rId11"/>
    <p:sldId id="945" r:id="rId12"/>
    <p:sldId id="936" r:id="rId13"/>
    <p:sldId id="946" r:id="rId14"/>
    <p:sldId id="937" r:id="rId15"/>
    <p:sldId id="947" r:id="rId16"/>
    <p:sldId id="948" r:id="rId17"/>
    <p:sldId id="949" r:id="rId18"/>
    <p:sldId id="950" r:id="rId19"/>
    <p:sldId id="951" r:id="rId20"/>
    <p:sldId id="952" r:id="rId21"/>
    <p:sldId id="943" r:id="rId22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542" autoAdjust="0"/>
  </p:normalViewPr>
  <p:slideViewPr>
    <p:cSldViewPr snapToGrid="0">
      <p:cViewPr varScale="1">
        <p:scale>
          <a:sx n="76" d="100"/>
          <a:sy n="76" d="100"/>
        </p:scale>
        <p:origin x="91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ADFF7B-7876-476D-9817-44EEECDE7C77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DFC35-57B6-4606-A2D9-F0222A5C8A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597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1DFC35-57B6-4606-A2D9-F0222A5C8A74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43411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979A335-BFB9-AAF4-8BAA-F6AA4FD1D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FF23B-171D-471C-BD36-2D0F3A67807C}" type="datetime1">
              <a:rPr lang="en-IN" smtClean="0"/>
              <a:t>18-03-2026</a:t>
            </a:fld>
            <a:endParaRPr lang="en-I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24E6499-99E1-5E0A-F4D8-0B5071E41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4675483-2FD4-D24E-DADC-E63111D5D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5B67F8-3864-425A-A4D9-E2BC08C4F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7453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242E6-CFCB-473D-8DE4-DBEBF5C17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FC64AC5-3894-4FBB-8975-13EB1DB8DC29}" type="datetime1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B7CD5-2550-DB8D-26F8-027AF7E19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6C51F-13A2-B94E-0452-050561AA0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5B67F8-3864-425A-A4D9-E2BC08C4F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797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55CF0-ABD6-66F1-67F5-836326ABE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8C1E13E-385D-4576-A100-69A004E17DA6}" type="datetime1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0945ED-DEA5-AD26-0679-3CCE60586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2C1ED-31B6-07E2-4040-23F46BA65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5B67F8-3864-425A-A4D9-E2BC08C4F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3027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4FF1E6-C3FD-8DC1-9688-6478CAF84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4AA223D-2542-4258-9E8D-7AA5AD35F6CD}" type="datetime1">
              <a:rPr lang="en-IN" smtClean="0"/>
              <a:t>18-03-2026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9A91A9-C2A8-B8FC-7EDD-9663FD0B1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FE2D58-A2BD-6749-279B-7D28B387D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5B67F8-3864-425A-A4D9-E2BC08C4F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987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66776"/>
            <a:ext cx="10515600" cy="8239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A1B3C8-B474-4F6E-6BB3-FA075D69C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E55CD5-F841-4E64-889C-5E5E14345BD0}" type="datetime1">
              <a:rPr lang="en-IN" smtClean="0"/>
              <a:t>18-03-2026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9A921A-9EC6-0DF2-79F5-6F853204D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C36F6D-C327-9C66-1C8D-D7352B06E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5B67F8-3864-425A-A4D9-E2BC08C4F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8127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3F204F-0527-F359-E020-C43A7A1EF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8EDD59E-1B5D-4786-A960-698D3B3A987B}" type="datetime1">
              <a:rPr lang="en-IN" smtClean="0"/>
              <a:t>18-03-2026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6F5C84-7D85-6B3B-4A48-36E85A4C5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A28A42-FE07-DE2E-EBAE-42B1BB1F7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5B67F8-3864-425A-A4D9-E2BC08C4F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7010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AF3302-8D61-C056-96BB-694507EF5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72AF16-0324-4CB5-BF94-93F7E9EFF89A}" type="datetime1">
              <a:rPr lang="en-IN" smtClean="0"/>
              <a:t>18-03-2026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943D02-CCC0-D13A-998C-CB44054C0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7098C0-B884-165A-2694-973A56D86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5B67F8-3864-425A-A4D9-E2BC08C4F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2527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069974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C1A566-EA49-2977-8317-6FB23668A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57C84E-F0B9-4ADC-986F-1DB115FD93B9}" type="datetime1">
              <a:rPr lang="en-IN" smtClean="0"/>
              <a:t>18-03-2026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7BDFB9-862F-16D1-7A43-6B67A6BA9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3EEF3A-C8B2-956C-D15D-86434F200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5B67F8-3864-425A-A4D9-E2BC08C4F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3265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87426"/>
            <a:ext cx="3932237" cy="106997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CBCC3F-66AE-D685-917C-BCE23EBFE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FE89-EA5A-4C24-95E7-6963E505006B}" type="datetime1">
              <a:rPr lang="en-IN" smtClean="0"/>
              <a:t>18-03-2026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1C573-3CAA-6017-0BFA-B1CAB9048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416E67-65BF-8531-9B7F-D0AB1116C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5B67F8-3864-425A-A4D9-E2BC08C4F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159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87074-245E-87F5-DFC8-F77FA4B66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07C52A0-4C51-420B-BF57-FAF0CD0E6621}" type="datetime1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67015-6888-E53F-F21D-DC01C60BB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1566B7-60AE-81B8-5DE4-D6BFD289C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5B67F8-3864-425A-A4D9-E2BC08C4F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18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34291"/>
            <a:ext cx="2628900" cy="544267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734291"/>
            <a:ext cx="7734300" cy="544267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EEC42-DA93-168A-2B53-EF25A3731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F72F860-3138-4D6D-8E16-7172FEACE899}" type="datetime1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AB2B8-EC58-8D37-46A2-4312FBD9C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0C8FE-9ACC-AEDE-88A1-C2C2CA5C8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5B67F8-3864-425A-A4D9-E2BC08C4F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8603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D98792EE-EA1B-511C-9257-0EAF452244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812800"/>
            <a:ext cx="10515600" cy="87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IN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C697C5F7-0279-4B15-1CB7-D1A483C708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I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CCFADE-5B20-75C0-424F-0F2AFB6DF4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900">
                <a:solidFill>
                  <a:srgbClr val="898989"/>
                </a:solidFill>
                <a:latin typeface="Times New Roman" panose="02020603050405020304" pitchFamily="18" charset="0"/>
              </a:defRPr>
            </a:lvl1pPr>
          </a:lstStyle>
          <a:p>
            <a:fld id="{E0F2942C-538E-49F4-BC5F-AB443059ECD1}" type="datetime1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DAFD65-0BAE-358D-C0AE-A5DD4E0191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BA6229-5562-F65D-A0BA-E4ABF542A4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900">
                <a:solidFill>
                  <a:srgbClr val="898989"/>
                </a:solidFill>
              </a:defRPr>
            </a:lvl1pPr>
          </a:lstStyle>
          <a:p>
            <a:fld id="{095B67F8-3864-425A-A4D9-E2BC08C4F04D}" type="slidenum">
              <a:rPr lang="en-IN" smtClean="0"/>
              <a:t>‹#›</a:t>
            </a:fld>
            <a:endParaRPr lang="en-IN"/>
          </a:p>
        </p:txBody>
      </p:sp>
      <p:pic>
        <p:nvPicPr>
          <p:cNvPr id="1031" name="Picture 6">
            <a:extLst>
              <a:ext uri="{FF2B5EF4-FFF2-40B4-BE49-F238E27FC236}">
                <a16:creationId xmlns:a16="http://schemas.microsoft.com/office/drawing/2014/main" id="{AF28A348-F62E-1D25-462F-F2D80714B5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13" y="136525"/>
            <a:ext cx="1800225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7">
            <a:extLst>
              <a:ext uri="{FF2B5EF4-FFF2-40B4-BE49-F238E27FC236}">
                <a16:creationId xmlns:a16="http://schemas.microsoft.com/office/drawing/2014/main" id="{2185E301-5D10-BC61-9226-34AFFC72B1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13" t="24036" r="8813" b="24036"/>
          <a:stretch>
            <a:fillRect/>
          </a:stretch>
        </p:blipFill>
        <p:spPr bwMode="auto">
          <a:xfrm>
            <a:off x="10541000" y="44450"/>
            <a:ext cx="162560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3139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Times New Roman" panose="02020603050405020304" pitchFamily="18" charset="0"/>
        </a:defRPr>
      </a:lvl2pPr>
      <a:lvl3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Times New Roman" panose="02020603050405020304" pitchFamily="18" charset="0"/>
        </a:defRPr>
      </a:lvl3pPr>
      <a:lvl4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Times New Roman" panose="02020603050405020304" pitchFamily="18" charset="0"/>
        </a:defRPr>
      </a:lvl4pPr>
      <a:lvl5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Times New Roman" panose="02020603050405020304" pitchFamily="18" charset="0"/>
        </a:defRPr>
      </a:lvl5pPr>
      <a:lvl6pPr marL="4572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1" fontAlgn="base" hangingPunct="1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scholar.google.com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CFBD233-F828-09C6-EA4D-22917D574585}"/>
              </a:ext>
            </a:extLst>
          </p:cNvPr>
          <p:cNvSpPr txBox="1">
            <a:spLocks/>
          </p:cNvSpPr>
          <p:nvPr/>
        </p:nvSpPr>
        <p:spPr bwMode="auto">
          <a:xfrm>
            <a:off x="386726" y="391232"/>
            <a:ext cx="11540971" cy="1528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/>
            <a:r>
              <a:rPr lang="en-GB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IADSS-An Ensemble Learning Framework for Multi-Domain</a:t>
            </a:r>
          </a:p>
          <a:p>
            <a:pPr algn="ctr"/>
            <a:r>
              <a:rPr lang="en-GB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Agricultural Intelligence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87242F4-4AF4-2EE6-2244-EA923A8D5029}"/>
              </a:ext>
            </a:extLst>
          </p:cNvPr>
          <p:cNvSpPr txBox="1">
            <a:spLocks/>
          </p:cNvSpPr>
          <p:nvPr/>
        </p:nvSpPr>
        <p:spPr>
          <a:xfrm>
            <a:off x="264303" y="4355168"/>
            <a:ext cx="6119733" cy="2143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By: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Rahul, Devansh</a:t>
            </a:r>
          </a:p>
          <a:p>
            <a:pPr algn="l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Reg. NO: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12211893,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12213046</a:t>
            </a:r>
          </a:p>
          <a:p>
            <a:pPr algn="l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 : 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CSE-461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Gate: </a:t>
            </a:r>
            <a:r>
              <a:rPr 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Google Scholar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19A9D40-899C-A87E-CDF1-34E4017C3514}"/>
              </a:ext>
            </a:extLst>
          </p:cNvPr>
          <p:cNvSpPr txBox="1">
            <a:spLocks/>
          </p:cNvSpPr>
          <p:nvPr/>
        </p:nvSpPr>
        <p:spPr>
          <a:xfrm>
            <a:off x="7063040" y="4356408"/>
            <a:ext cx="4556760" cy="20190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To: 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Kaushal Pathak</a:t>
            </a:r>
          </a:p>
          <a:p>
            <a:pPr algn="l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UID: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65326</a:t>
            </a:r>
          </a:p>
          <a:p>
            <a:pPr algn="l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Dept: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CSE</a:t>
            </a:r>
          </a:p>
          <a:p>
            <a:pPr algn="l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University: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Lovely  Professional University,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Jalandhar, Punjab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DD3E9F4D-56BE-7238-2C61-967135C5D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252" y="1661012"/>
            <a:ext cx="2825496" cy="2383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D9E18B93-884E-FEE6-CF7F-7A79D645D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CC10BE2-3C26-5745-BCC0-8E079BF8AF08}" type="slidenum">
              <a:rPr lang="en-US" smtClean="0"/>
              <a:t>1</a:t>
            </a:fld>
            <a:endParaRPr lang="en-US"/>
          </a:p>
        </p:txBody>
      </p:sp>
      <p:pic>
        <p:nvPicPr>
          <p:cNvPr id="13" name="Picture 4" descr="Upgrad | Radeontech">
            <a:extLst>
              <a:ext uri="{FF2B5EF4-FFF2-40B4-BE49-F238E27FC236}">
                <a16:creationId xmlns:a16="http://schemas.microsoft.com/office/drawing/2014/main" id="{CF12B8D0-DACF-D97B-3F7E-3068F64779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423" y="668068"/>
            <a:ext cx="1781012" cy="1509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787E051-6DD7-10D7-3CFA-C1683CAF1A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3D7F3CC-8AAC-A679-CD7A-8614753FC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640" y="661109"/>
            <a:ext cx="11966359" cy="1110958"/>
          </a:xfrm>
        </p:spPr>
        <p:txBody>
          <a:bodyPr/>
          <a:lstStyle/>
          <a:p>
            <a:pPr algn="ctr"/>
            <a:r>
              <a:rPr lang="en-US" b="1" dirty="0"/>
              <a:t>Content of Presentation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D162E08-F234-3249-D895-79831B2B1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292" y="2139364"/>
            <a:ext cx="11599416" cy="4351338"/>
          </a:xfrm>
        </p:spPr>
        <p:txBody>
          <a:bodyPr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/>
              <a:t>1. Introduction &amp; Recap (Brief)</a:t>
            </a:r>
            <a:endParaRPr lang="en-US" sz="18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/>
              <a:t>2. Data Engineering &amp; Understanding</a:t>
            </a:r>
            <a:endParaRPr lang="en-US" sz="18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/>
              <a:t>3. Data Pre-processing</a:t>
            </a:r>
            <a:endParaRPr lang="en-US" sz="18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/>
              <a:t>4. System Design &amp; Methodology</a:t>
            </a:r>
            <a:endParaRPr lang="en-US" sz="18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/>
              <a:t>5. Implementation (Work Done So Far)</a:t>
            </a:r>
            <a:endParaRPr lang="en-US" sz="18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/>
              <a:t>6. Challenges &amp; Solutions</a:t>
            </a:r>
            <a:endParaRPr lang="en-US" sz="18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/>
              <a:t>7. Future Plan (Evaluation 3)</a:t>
            </a:r>
          </a:p>
          <a:p>
            <a:pPr marL="0" indent="0" algn="ctr">
              <a:buNone/>
            </a:pPr>
            <a:r>
              <a:rPr lang="en-US" sz="1800" b="1" dirty="0"/>
              <a:t>8. References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9A1324F-DB87-5C48-88DE-7CCA4148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865397"/>
            <a:ext cx="2743200" cy="365125"/>
          </a:xfrm>
        </p:spPr>
        <p:txBody>
          <a:bodyPr/>
          <a:lstStyle/>
          <a:p>
            <a:fld id="{1CC10BE2-3C26-5745-BCC0-8E079BF8AF08}" type="slidenum">
              <a:rPr lang="en-US" smtClean="0"/>
              <a:t>2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945C88-2681-B18B-DCF1-CA011FF654B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1438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DBA062-19D3-E464-CE7C-FACF7CD66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3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D0EF1A-1A7C-882D-18A6-632AB693C183}"/>
              </a:ext>
            </a:extLst>
          </p:cNvPr>
          <p:cNvSpPr txBox="1"/>
          <p:nvPr/>
        </p:nvSpPr>
        <p:spPr>
          <a:xfrm>
            <a:off x="80388" y="573916"/>
            <a:ext cx="12191999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1. Introduction &amp; Recap (Brief)</a:t>
            </a:r>
            <a:endParaRPr lang="en-US" sz="1200" dirty="0"/>
          </a:p>
          <a:p>
            <a:pPr lvl="1"/>
            <a:r>
              <a:rPr lang="en-US" sz="1200" dirty="0"/>
              <a:t>1.1 Project Title and Objectives: A quick reminder of the goal.</a:t>
            </a:r>
          </a:p>
          <a:p>
            <a:pPr lvl="1"/>
            <a:r>
              <a:rPr lang="en-US" sz="1200" dirty="0"/>
              <a:t>1.2 Problem Statement: The specific gap you are addressing.</a:t>
            </a:r>
          </a:p>
          <a:p>
            <a:pPr lvl="1"/>
            <a:r>
              <a:rPr lang="en-US" sz="1200" dirty="0"/>
              <a:t>1.3 Scope of Work (Phase 2): Clear list of what was promised for this evaluation.</a:t>
            </a:r>
          </a:p>
          <a:p>
            <a:r>
              <a:rPr lang="en-US" sz="1200" b="1" dirty="0"/>
              <a:t>2. Data Engineering &amp; Understanding</a:t>
            </a:r>
            <a:endParaRPr lang="en-US" sz="1200" dirty="0"/>
          </a:p>
          <a:p>
            <a:pPr lvl="1"/>
            <a:r>
              <a:rPr lang="en-US" sz="1200" dirty="0"/>
              <a:t>2.1 Data Collection/Sourcing: Details of the dataset (Kaggle, Web Scraping, APIs, or IoT sensors).</a:t>
            </a:r>
          </a:p>
          <a:p>
            <a:pPr lvl="1"/>
            <a:r>
              <a:rPr lang="en-US" sz="1200" dirty="0"/>
              <a:t>2.2 Data Description: Number of records, features (variables), and data types.</a:t>
            </a:r>
          </a:p>
          <a:p>
            <a:pPr lvl="1"/>
            <a:r>
              <a:rPr lang="en-US" sz="1200" dirty="0"/>
              <a:t>2.3 Exploratory Data Analysis (EDA): * Statistical summaries. </a:t>
            </a:r>
          </a:p>
          <a:p>
            <a:pPr lvl="2"/>
            <a:r>
              <a:rPr lang="en-US" sz="1200" dirty="0"/>
              <a:t>Visualizations (Histograms, Correlation Heatmaps, Box plots).</a:t>
            </a:r>
          </a:p>
          <a:p>
            <a:pPr lvl="2"/>
            <a:r>
              <a:rPr lang="en-US" sz="1200" dirty="0"/>
              <a:t>Insights gained (e.g., "Feature X is highly correlated with the target").</a:t>
            </a:r>
          </a:p>
          <a:p>
            <a:r>
              <a:rPr lang="en-US" sz="1200" b="1" dirty="0"/>
              <a:t>3. Data Pre-processing</a:t>
            </a:r>
            <a:endParaRPr lang="en-US" sz="1200" dirty="0"/>
          </a:p>
          <a:p>
            <a:pPr lvl="1"/>
            <a:r>
              <a:rPr lang="en-US" sz="1200" dirty="0"/>
              <a:t>3.1 Data Cleaning: Handling missing values, outliers, and duplicates.</a:t>
            </a:r>
          </a:p>
          <a:p>
            <a:pPr lvl="1"/>
            <a:r>
              <a:rPr lang="en-US" sz="1200" dirty="0"/>
              <a:t>3.2 Feature Engineering: * Feature Selection (removing redundant data).</a:t>
            </a:r>
          </a:p>
          <a:p>
            <a:pPr lvl="2"/>
            <a:r>
              <a:rPr lang="en-US" sz="1200" dirty="0"/>
              <a:t>Feature Scaling (Normalization/Standardization).</a:t>
            </a:r>
          </a:p>
          <a:p>
            <a:pPr lvl="2"/>
            <a:r>
              <a:rPr lang="en-US" sz="1200" dirty="0"/>
              <a:t>Encoding (One-Hot, Label Encoding for categorical data).</a:t>
            </a:r>
          </a:p>
          <a:p>
            <a:pPr lvl="1"/>
            <a:r>
              <a:rPr lang="en-US" sz="1200" dirty="0"/>
              <a:t>3.3 Data Splitting: Training, Validation, and Testing sets (e.g., 80/10/10 split).</a:t>
            </a:r>
          </a:p>
          <a:p>
            <a:r>
              <a:rPr lang="en-US" sz="1200" b="1" dirty="0"/>
              <a:t>4. System Design &amp; Methodology</a:t>
            </a:r>
            <a:endParaRPr lang="en-US" sz="1200" dirty="0"/>
          </a:p>
          <a:p>
            <a:pPr lvl="1"/>
            <a:r>
              <a:rPr lang="en-US" sz="1200" dirty="0"/>
              <a:t>4.1 Proposed System Architecture: A block diagram showing the flow from raw data to the final model.</a:t>
            </a:r>
          </a:p>
          <a:p>
            <a:pPr lvl="1"/>
            <a:r>
              <a:rPr lang="en-US" sz="1200" dirty="0"/>
              <a:t>4.2 Algorithm Selection: Why you chose specific models (e.g., Random Forest vs. </a:t>
            </a:r>
            <a:r>
              <a:rPr lang="en-US" sz="1200" dirty="0" err="1"/>
              <a:t>XGBoost</a:t>
            </a:r>
            <a:r>
              <a:rPr lang="en-US" sz="1200" dirty="0"/>
              <a:t>).</a:t>
            </a:r>
          </a:p>
          <a:p>
            <a:pPr lvl="1"/>
            <a:r>
              <a:rPr lang="en-US" sz="1200" dirty="0"/>
              <a:t>4.3 Mathematical Model: Relevant formulas or logic behind the chosen algorithm.</a:t>
            </a:r>
          </a:p>
          <a:p>
            <a:r>
              <a:rPr lang="en-US" sz="1200" b="1" dirty="0"/>
              <a:t>5. Implementation (Work Done So Far)</a:t>
            </a:r>
            <a:endParaRPr lang="en-US" sz="1200" dirty="0"/>
          </a:p>
          <a:p>
            <a:pPr lvl="1"/>
            <a:r>
              <a:rPr lang="en-US" sz="1200" dirty="0"/>
              <a:t>5.1 Baseline Model Results: Initial results from a simple model.</a:t>
            </a:r>
          </a:p>
          <a:p>
            <a:pPr lvl="1"/>
            <a:r>
              <a:rPr lang="en-US" sz="1200" dirty="0"/>
              <a:t>5.2 Performance Metrics: Accuracy, Precision, Recall, F1-Score, or RMSE/MAE (depending on the project).</a:t>
            </a:r>
          </a:p>
          <a:p>
            <a:pPr lvl="1"/>
            <a:r>
              <a:rPr lang="en-US" sz="1200" dirty="0"/>
              <a:t>5.3 Comparative Analysis: Comparison of at least 2–3 different algorithms.</a:t>
            </a:r>
          </a:p>
          <a:p>
            <a:pPr lvl="1"/>
            <a:r>
              <a:rPr lang="en-US" sz="1200" dirty="0"/>
              <a:t>5.4 Intermediate Screenshots: Snapshots of code execution or model training logs.</a:t>
            </a:r>
          </a:p>
          <a:p>
            <a:r>
              <a:rPr lang="en-US" sz="1200" b="1" dirty="0"/>
              <a:t>6. Challenges &amp; Solutions</a:t>
            </a:r>
            <a:endParaRPr lang="en-US" sz="1200" dirty="0"/>
          </a:p>
          <a:p>
            <a:pPr lvl="1"/>
            <a:r>
              <a:rPr lang="en-US" sz="1200" dirty="0"/>
              <a:t>6.1 Technical Hurdles: (e.g., Class imbalance, high computational cost).</a:t>
            </a:r>
          </a:p>
          <a:p>
            <a:pPr lvl="1"/>
            <a:r>
              <a:rPr lang="en-US" sz="1200" dirty="0"/>
              <a:t>6.2 Mitigations: How you solved these issues (e.g., SMOTE for imbalance).</a:t>
            </a:r>
          </a:p>
          <a:p>
            <a:r>
              <a:rPr lang="en-US" sz="1200" b="1" dirty="0"/>
              <a:t>7. Future Plan (Evaluation 3)</a:t>
            </a:r>
            <a:endParaRPr lang="en-US" sz="1200" dirty="0"/>
          </a:p>
          <a:p>
            <a:pPr lvl="1"/>
            <a:r>
              <a:rPr lang="en-US" sz="1200" dirty="0"/>
              <a:t>7.1 Pending Tasks: (e.g., Hyperparameter tuning, UI development, Deployment).</a:t>
            </a:r>
          </a:p>
          <a:p>
            <a:pPr lvl="1"/>
            <a:r>
              <a:rPr lang="en-US" sz="1200" dirty="0"/>
              <a:t>7.2 Project Timeline (Gantt Chart): Updated schedule for the final phase.</a:t>
            </a:r>
          </a:p>
          <a:p>
            <a:r>
              <a:rPr lang="en-US" sz="1200" b="1" dirty="0"/>
              <a:t>8. References    </a:t>
            </a:r>
          </a:p>
          <a:p>
            <a:r>
              <a:rPr lang="en-US" sz="1200" b="1" dirty="0"/>
              <a:t>            </a:t>
            </a:r>
            <a:r>
              <a:rPr lang="en-US" sz="1200" dirty="0"/>
              <a:t>Updated list of research papers and documentation used.</a:t>
            </a:r>
          </a:p>
          <a:p>
            <a:pPr lvl="1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897421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BDF9A-AE66-8F01-7756-E0483332C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1. Introduction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7BB99FD-62B3-6C72-172F-A2BB333380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1400" i="1" dirty="0"/>
              <a:t>Intelligent Agricultural Decision Support System (IADSS)</a:t>
            </a:r>
            <a:endParaRPr lang="en-US" sz="1400" dirty="0"/>
          </a:p>
          <a:p>
            <a:r>
              <a:rPr lang="en-US" sz="1400" b="1" dirty="0"/>
              <a:t>Objectives:</a:t>
            </a:r>
            <a:endParaRPr lang="en-US" sz="1400" dirty="0"/>
          </a:p>
          <a:p>
            <a:pPr lvl="1"/>
            <a:r>
              <a:rPr lang="en-US" sz="1400" dirty="0"/>
              <a:t>Detect plant diseases using image-based AI models</a:t>
            </a:r>
          </a:p>
          <a:p>
            <a:pPr lvl="1"/>
            <a:r>
              <a:rPr lang="en-US" sz="1400" dirty="0"/>
              <a:t>Predict crop prices using machine learning techniques</a:t>
            </a:r>
          </a:p>
          <a:p>
            <a:pPr lvl="1"/>
            <a:r>
              <a:rPr lang="en-US" sz="1400" dirty="0"/>
              <a:t>Provide explainable recommendations using a RAG-based chatbot</a:t>
            </a:r>
          </a:p>
          <a:p>
            <a:pPr marL="0" indent="0">
              <a:buNone/>
            </a:pPr>
            <a:r>
              <a:rPr lang="en-US" sz="1400" b="1" dirty="0"/>
              <a:t>1.2 Problem Statement</a:t>
            </a:r>
          </a:p>
          <a:p>
            <a:r>
              <a:rPr lang="en-US" sz="1400" dirty="0"/>
              <a:t>Farmers lack </a:t>
            </a:r>
            <a:r>
              <a:rPr lang="en-US" sz="1400" b="1" dirty="0"/>
              <a:t>accurate and real-time disease detection tools</a:t>
            </a:r>
            <a:endParaRPr lang="en-US" sz="1400" dirty="0"/>
          </a:p>
          <a:p>
            <a:r>
              <a:rPr lang="en-US" sz="1400" dirty="0"/>
              <a:t>No reliable system for </a:t>
            </a:r>
            <a:r>
              <a:rPr lang="en-US" sz="1400" b="1" dirty="0"/>
              <a:t>crop price forecasting</a:t>
            </a:r>
            <a:endParaRPr lang="en-US" sz="1400" dirty="0"/>
          </a:p>
          <a:p>
            <a:r>
              <a:rPr lang="en-US" sz="1400" dirty="0"/>
              <a:t>Existing solutions are:</a:t>
            </a:r>
          </a:p>
          <a:p>
            <a:pPr lvl="1"/>
            <a:r>
              <a:rPr lang="en-US" sz="1400" dirty="0"/>
              <a:t>Fragmented</a:t>
            </a:r>
          </a:p>
          <a:p>
            <a:pPr lvl="1"/>
            <a:r>
              <a:rPr lang="en-US" sz="1400" dirty="0"/>
              <a:t>Non-explainable</a:t>
            </a:r>
          </a:p>
          <a:p>
            <a:pPr lvl="1"/>
            <a:r>
              <a:rPr lang="en-US" sz="1400" dirty="0"/>
              <a:t>Limited to single-domain problems</a:t>
            </a:r>
          </a:p>
          <a:p>
            <a:r>
              <a:rPr lang="en-US" sz="1400" dirty="0"/>
              <a:t>Need for an </a:t>
            </a:r>
            <a:r>
              <a:rPr lang="en-US" sz="1400" b="1" dirty="0"/>
              <a:t>integrated AI-driven agricultural system</a:t>
            </a:r>
            <a:endParaRPr lang="en-US" sz="1400" dirty="0"/>
          </a:p>
          <a:p>
            <a:r>
              <a:rPr lang="en-US" sz="1400" dirty="0"/>
              <a:t>Initial integration of </a:t>
            </a:r>
            <a:r>
              <a:rPr lang="en-US" sz="1400" b="1" dirty="0"/>
              <a:t>API-based architecture</a:t>
            </a:r>
            <a:endParaRPr lang="en-US" sz="1400" dirty="0"/>
          </a:p>
          <a:p>
            <a:r>
              <a:rPr lang="en-US" sz="1400" dirty="0"/>
              <a:t>Basic implementation of </a:t>
            </a:r>
            <a:r>
              <a:rPr lang="en-US" sz="1400" b="1" dirty="0"/>
              <a:t>RAG-based chatbot</a:t>
            </a:r>
            <a:endParaRPr lang="en-US" sz="14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7B45AD2-5653-F028-F37A-9055B02FE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4</a:t>
            </a:fld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BEAAC9-5F29-6FBB-DD8B-926958CC185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6787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8009E-C610-D2AC-4B1E-A7BC82539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2. Data Engineering and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0AEED-76BD-3C95-377E-7D67BC32BB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95755"/>
          </a:xfrm>
        </p:spPr>
        <p:txBody>
          <a:bodyPr/>
          <a:lstStyle/>
          <a:p>
            <a:pPr marL="0" indent="0">
              <a:buNone/>
            </a:pPr>
            <a:r>
              <a:rPr lang="en-IN" sz="1600" b="1" dirty="0"/>
              <a:t>2.1 Data Collection / Sourcing</a:t>
            </a:r>
          </a:p>
          <a:p>
            <a:pPr marL="0" indent="0">
              <a:buNone/>
            </a:pPr>
            <a:r>
              <a:rPr lang="en-IN" sz="1400" b="1" dirty="0"/>
              <a:t>Plant Disease Dataset:</a:t>
            </a:r>
            <a:endParaRPr lang="en-IN" sz="1400" dirty="0"/>
          </a:p>
          <a:p>
            <a:pPr lvl="1"/>
            <a:r>
              <a:rPr lang="en-IN" sz="1400" dirty="0" err="1"/>
              <a:t>PlantVillage</a:t>
            </a:r>
            <a:r>
              <a:rPr lang="en-IN" sz="1400" dirty="0"/>
              <a:t> Dataset</a:t>
            </a:r>
          </a:p>
          <a:p>
            <a:pPr lvl="1"/>
            <a:r>
              <a:rPr lang="en-IN" sz="1400" dirty="0" err="1"/>
              <a:t>Roboflow</a:t>
            </a:r>
            <a:r>
              <a:rPr lang="en-IN" sz="1400" dirty="0"/>
              <a:t> (image-based dataset)</a:t>
            </a:r>
          </a:p>
          <a:p>
            <a:pPr marL="0" indent="0">
              <a:buNone/>
            </a:pPr>
            <a:r>
              <a:rPr lang="en-IN" sz="1400" b="1" dirty="0"/>
              <a:t>Crop Price Dataset:</a:t>
            </a:r>
            <a:endParaRPr lang="en-IN" sz="1400" dirty="0"/>
          </a:p>
          <a:p>
            <a:pPr lvl="1"/>
            <a:r>
              <a:rPr lang="en-IN" sz="1400" dirty="0"/>
              <a:t>Structured CSV dataset (crop_price_cleaned.csv)</a:t>
            </a:r>
          </a:p>
          <a:p>
            <a:pPr lvl="1"/>
            <a:r>
              <a:rPr lang="en-IN" sz="1400" dirty="0"/>
              <a:t>Contains market, environmental, and economic factors</a:t>
            </a:r>
            <a:br>
              <a:rPr lang="en-IN" sz="1400" dirty="0"/>
            </a:br>
            <a:endParaRPr lang="en-IN" sz="1400" dirty="0"/>
          </a:p>
          <a:p>
            <a:pPr marL="0" indent="0">
              <a:buNone/>
            </a:pPr>
            <a:r>
              <a:rPr lang="en-IN" sz="1600" b="1" dirty="0"/>
              <a:t>2.2 Data Description</a:t>
            </a:r>
          </a:p>
          <a:p>
            <a:r>
              <a:rPr lang="en-IN" sz="1400" b="1" dirty="0"/>
              <a:t>Crop Price Dataset:</a:t>
            </a:r>
            <a:endParaRPr lang="en-IN" sz="1400" dirty="0"/>
          </a:p>
          <a:p>
            <a:pPr lvl="1"/>
            <a:r>
              <a:rPr lang="en-IN" sz="1400" dirty="0"/>
              <a:t>Records: ~10,000+ rows (approx.)</a:t>
            </a:r>
          </a:p>
          <a:p>
            <a:pPr lvl="1"/>
            <a:r>
              <a:rPr lang="en-IN" sz="1400" b="1" dirty="0"/>
              <a:t>Features</a:t>
            </a:r>
            <a:r>
              <a:rPr lang="en-IN" sz="1400" dirty="0"/>
              <a:t>:</a:t>
            </a:r>
          </a:p>
          <a:p>
            <a:pPr lvl="2"/>
            <a:r>
              <a:rPr lang="en-IN" sz="1400" dirty="0"/>
              <a:t>Date, State, Crop Type, Season</a:t>
            </a:r>
          </a:p>
          <a:p>
            <a:pPr lvl="2"/>
            <a:r>
              <a:rPr lang="en-IN" sz="1400" dirty="0"/>
              <a:t>Temperature, Rainfall</a:t>
            </a:r>
          </a:p>
          <a:p>
            <a:pPr lvl="2"/>
            <a:r>
              <a:rPr lang="en-IN" sz="1400" dirty="0"/>
              <a:t>Demand, Supply</a:t>
            </a:r>
          </a:p>
          <a:p>
            <a:pPr lvl="2"/>
            <a:r>
              <a:rPr lang="en-IN" sz="1400" dirty="0"/>
              <a:t>Market factors</a:t>
            </a:r>
          </a:p>
          <a:p>
            <a:pPr lvl="1"/>
            <a:r>
              <a:rPr lang="en-IN" sz="1400" dirty="0"/>
              <a:t>Target Variable:</a:t>
            </a:r>
          </a:p>
          <a:p>
            <a:pPr lvl="2"/>
            <a:r>
              <a:rPr lang="en-IN" sz="1400" b="1" dirty="0"/>
              <a:t>Price (₹/Quintal)</a:t>
            </a:r>
            <a:endParaRPr lang="en-IN" sz="1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7D79FD-A19D-5B9B-34F0-EB85B401A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5</a:t>
            </a:fld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B683BD-F3BB-24CB-8F15-3B30975634E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8985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D2ABA-997C-ED59-785D-189401CB3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DB0CE-FC17-1E28-73CF-2FBD92E08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2. Data Engineering and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A2CE9-A690-763E-CEAB-7DC73F8FE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95755"/>
          </a:xfrm>
        </p:spPr>
        <p:txBody>
          <a:bodyPr/>
          <a:lstStyle/>
          <a:p>
            <a:pPr marL="0" indent="0">
              <a:buNone/>
            </a:pPr>
            <a:r>
              <a:rPr lang="en-IN" sz="1600" b="1" dirty="0"/>
              <a:t>2.3 Exploratory Data Analysis (EDA)</a:t>
            </a:r>
          </a:p>
          <a:p>
            <a:pPr marL="0" indent="0">
              <a:buNone/>
            </a:pPr>
            <a:r>
              <a:rPr lang="en-IN" sz="1600" b="1" dirty="0"/>
              <a:t>Statistical Summary</a:t>
            </a:r>
          </a:p>
          <a:p>
            <a:r>
              <a:rPr lang="en-IN" sz="1600" dirty="0"/>
              <a:t>Mean, median, and standard deviation </a:t>
            </a:r>
            <a:r>
              <a:rPr lang="en-IN" sz="1600" dirty="0" err="1"/>
              <a:t>analyzed</a:t>
            </a:r>
            <a:endParaRPr lang="en-IN" sz="1600" dirty="0"/>
          </a:p>
          <a:p>
            <a:r>
              <a:rPr lang="en-IN" sz="1600" dirty="0"/>
              <a:t>High variance observed in premium crops (Tea, Coffee)</a:t>
            </a:r>
          </a:p>
          <a:p>
            <a:pPr marL="0" indent="0">
              <a:buNone/>
            </a:pPr>
            <a:r>
              <a:rPr lang="en-IN" sz="1600" b="1" dirty="0"/>
              <a:t>Visualizations</a:t>
            </a:r>
          </a:p>
          <a:p>
            <a:pPr lvl="1"/>
            <a:r>
              <a:rPr lang="en-IN" sz="1400" b="1" dirty="0"/>
              <a:t>Histogram / Q-Q Plot:</a:t>
            </a:r>
            <a:br>
              <a:rPr lang="en-IN" sz="1400" dirty="0"/>
            </a:br>
            <a:r>
              <a:rPr lang="en-IN" sz="1400" dirty="0"/>
              <a:t>	Price distribution is </a:t>
            </a:r>
            <a:r>
              <a:rPr lang="en-IN" sz="1400" b="1" dirty="0"/>
              <a:t>right-skewed (non-normal)</a:t>
            </a:r>
            <a:endParaRPr lang="en-IN" sz="1400" dirty="0"/>
          </a:p>
          <a:p>
            <a:pPr lvl="1"/>
            <a:r>
              <a:rPr lang="en-IN" sz="1400" b="1" dirty="0"/>
              <a:t>Bar Chart (Average Price per Crop):</a:t>
            </a:r>
            <a:br>
              <a:rPr lang="en-IN" sz="1400" dirty="0"/>
            </a:br>
            <a:r>
              <a:rPr lang="en-IN" sz="1400" dirty="0"/>
              <a:t>	High-value vs low-value crops clearly identified</a:t>
            </a:r>
          </a:p>
          <a:p>
            <a:pPr lvl="1"/>
            <a:r>
              <a:rPr lang="en-IN" sz="1400" b="1" dirty="0"/>
              <a:t>Volatility Analysis (Std Dev):</a:t>
            </a:r>
            <a:br>
              <a:rPr lang="en-IN" sz="1400" dirty="0"/>
            </a:br>
            <a:r>
              <a:rPr lang="en-IN" sz="1400" dirty="0"/>
              <a:t>	Tea and Coffee show highest price fluctuations</a:t>
            </a:r>
          </a:p>
          <a:p>
            <a:pPr marL="0" indent="0">
              <a:buNone/>
            </a:pPr>
            <a:r>
              <a:rPr lang="en-IN" sz="1600" b="1" dirty="0"/>
              <a:t>Key Insights</a:t>
            </a:r>
          </a:p>
          <a:p>
            <a:pPr lvl="1"/>
            <a:r>
              <a:rPr lang="en-IN" sz="1400" dirty="0"/>
              <a:t>Crop prices are </a:t>
            </a:r>
            <a:r>
              <a:rPr lang="en-IN" sz="1400" b="1" dirty="0"/>
              <a:t>not normally distributed</a:t>
            </a:r>
            <a:endParaRPr lang="en-IN" sz="1400" dirty="0"/>
          </a:p>
          <a:p>
            <a:pPr lvl="1"/>
            <a:r>
              <a:rPr lang="en-IN" sz="1400" dirty="0"/>
              <a:t>High-value crops have </a:t>
            </a:r>
            <a:r>
              <a:rPr lang="en-IN" sz="1400" b="1" dirty="0"/>
              <a:t>higher volatility</a:t>
            </a:r>
            <a:endParaRPr lang="en-IN" sz="1400" dirty="0"/>
          </a:p>
          <a:p>
            <a:pPr lvl="1"/>
            <a:r>
              <a:rPr lang="en-IN" sz="1400" dirty="0"/>
              <a:t>Seasonal impact is </a:t>
            </a:r>
            <a:r>
              <a:rPr lang="en-IN" sz="1400" b="1" dirty="0"/>
              <a:t>weak in dataset</a:t>
            </a:r>
            <a:endParaRPr lang="en-IN" sz="1400" dirty="0"/>
          </a:p>
          <a:p>
            <a:pPr lvl="1"/>
            <a:r>
              <a:rPr lang="en-IN" sz="1400" dirty="0"/>
              <a:t>Multiple crops create </a:t>
            </a:r>
            <a:r>
              <a:rPr lang="en-IN" sz="1400" b="1" dirty="0"/>
              <a:t>mixed distribution pattern</a:t>
            </a:r>
            <a:endParaRPr lang="en-IN" sz="1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6CBFC4-AEDB-5BDC-2523-510142EFD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6</a:t>
            </a:fld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127A99-17FB-3BCB-1F6B-3FDA8F869A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122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67004-6F0D-0B1A-1F37-00A12B7F6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5EB64-F781-22EC-4B79-8857BD4ED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Proposed System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01E1A4-C573-4E5D-297C-A6A9ED23B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7</a:t>
            </a:fld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6BC13E-C714-18F2-51D4-AA4D46AF095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DB84F7D-DC19-079D-8FF3-AB1862B396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45398" y="1658938"/>
            <a:ext cx="3527002" cy="5062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6608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1305A-C153-7656-7730-9AD0CAAB6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9192F-D5A5-76BD-E17C-93C9D803F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280" y="2072640"/>
            <a:ext cx="4770120" cy="877888"/>
          </a:xfrm>
        </p:spPr>
        <p:txBody>
          <a:bodyPr/>
          <a:lstStyle/>
          <a:p>
            <a:r>
              <a:rPr lang="en-US" dirty="0"/>
              <a:t>RAG Architecture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9EC210-2971-199C-91B1-19BC13DB0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8</a:t>
            </a:fld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F6739B-D60A-4166-5BCB-278BFCBDC17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2FDE162-F872-2960-28F3-562505BA4A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19982" y="687705"/>
            <a:ext cx="3063240" cy="59382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9103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491B4-2B76-32D5-67AE-3E8204B62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Literature review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E250EFF-FFA6-A059-4A43-6C7E2F6E06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9079220"/>
              </p:ext>
            </p:extLst>
          </p:nvPr>
        </p:nvGraphicFramePr>
        <p:xfrm>
          <a:off x="838200" y="1480457"/>
          <a:ext cx="10928421" cy="51965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4288">
                  <a:extLst>
                    <a:ext uri="{9D8B030D-6E8A-4147-A177-3AD203B41FA5}">
                      <a16:colId xmlns:a16="http://schemas.microsoft.com/office/drawing/2014/main" val="1539739518"/>
                    </a:ext>
                  </a:extLst>
                </a:gridCol>
                <a:gridCol w="3581890">
                  <a:extLst>
                    <a:ext uri="{9D8B030D-6E8A-4147-A177-3AD203B41FA5}">
                      <a16:colId xmlns:a16="http://schemas.microsoft.com/office/drawing/2014/main" val="1800967558"/>
                    </a:ext>
                  </a:extLst>
                </a:gridCol>
                <a:gridCol w="3153735">
                  <a:extLst>
                    <a:ext uri="{9D8B030D-6E8A-4147-A177-3AD203B41FA5}">
                      <a16:colId xmlns:a16="http://schemas.microsoft.com/office/drawing/2014/main" val="1270894706"/>
                    </a:ext>
                  </a:extLst>
                </a:gridCol>
                <a:gridCol w="2578508">
                  <a:extLst>
                    <a:ext uri="{9D8B030D-6E8A-4147-A177-3AD203B41FA5}">
                      <a16:colId xmlns:a16="http://schemas.microsoft.com/office/drawing/2014/main" val="1080103288"/>
                    </a:ext>
                  </a:extLst>
                </a:gridCol>
              </a:tblGrid>
              <a:tr h="397225">
                <a:tc>
                  <a:txBody>
                    <a:bodyPr/>
                    <a:lstStyle/>
                    <a:p>
                      <a:r>
                        <a:rPr lang="en-US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Refrence</a:t>
                      </a:r>
                      <a:r>
                        <a:rPr lang="en-US" dirty="0"/>
                        <a:t> of Paper(Title/</a:t>
                      </a:r>
                      <a:r>
                        <a:rPr lang="en-US" dirty="0" err="1"/>
                        <a:t>Confrence</a:t>
                      </a:r>
                      <a:r>
                        <a:rPr lang="en-US" dirty="0"/>
                        <a:t> Name)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Research 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Proposed model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339132"/>
                  </a:ext>
                </a:extLst>
              </a:tr>
              <a:tr h="14202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Intelligent Decision Support System for Smart Agriculture</a:t>
                      </a:r>
                      <a:r>
                        <a:rPr lang="en-US"/>
                        <a:t> – IEEE Conference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• Focused mainly on IoT &amp; fuzzy logic• No image-based disease detection• No market price forecasting• Lacks conversational interface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• Fully automated AI-based system</a:t>
                      </a:r>
                    </a:p>
                    <a:p>
                      <a:pPr>
                        <a:buNone/>
                      </a:pPr>
                      <a:r>
                        <a:rPr lang="en-US" dirty="0"/>
                        <a:t>• Image-based plant disease detection using CNN• Soil nutrient analysis using ML• Integrated decision support system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1514037"/>
                  </a:ext>
                </a:extLst>
              </a:tr>
              <a:tr h="11998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Artificial Intelligence-based Decision Support Systems in Smart Agriculture</a:t>
                      </a:r>
                      <a:r>
                        <a:rPr lang="en-US"/>
                        <a:t> – Frontiers in Sustainable Food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• Mostly survey/bibliometric study• No real-time implementation• Limited module integration• No user-facing chatbot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• Practical multi-module implementation• Ensemble-based crop price prediction• RAG-based AI chatbot for explainability• Real-time user interaction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0120327"/>
                  </a:ext>
                </a:extLst>
              </a:tr>
              <a:tr h="9794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Plant Disease Detection using Deep Learning (CNN-based approaches)</a:t>
                      </a:r>
                      <a:r>
                        <a:rPr lang="en-US"/>
                        <a:t> – Various IEEE/Springer Studies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• Focused only on disease detection• No soil or economic context• Standalone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• Disease detection integrated with soil analysis• Context-aware recommendations• Confidence-based prediction output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570084"/>
                  </a:ext>
                </a:extLst>
              </a:tr>
              <a:tr h="11998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Crop Price Prediction using Machine Learning Models</a:t>
                      </a:r>
                      <a:r>
                        <a:rPr lang="en-US"/>
                        <a:t> – Research Journals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• Single-model approaches• Poor handling of seasonality• No decision support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• Ensemble learning (RF + Prophet)</a:t>
                      </a:r>
                    </a:p>
                    <a:p>
                      <a:pPr>
                        <a:buNone/>
                      </a:pPr>
                      <a:r>
                        <a:rPr lang="en-US" dirty="0"/>
                        <a:t>• Meta-learner for accuracy• Actionable price recommendations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6374233"/>
                  </a:ext>
                </a:extLst>
              </a:tr>
            </a:tbl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3FF53A-7BBB-E69F-27F8-50FE8E4A2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9</a:t>
            </a:fld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71665A-8A4C-2BF6-4F2F-EC536E769FA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793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3A9D0-DF5A-5517-968B-1BBB983BE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3. Data Pre-Processing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9908B-0445-7665-7DEB-CEB6BA759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3.1 Data Cleaning</a:t>
            </a:r>
          </a:p>
          <a:p>
            <a:pPr lvl="1"/>
            <a:r>
              <a:rPr lang="en-US" sz="1600" dirty="0"/>
              <a:t>Performed missing value handling by removing or imputing incomplete records to ensure data consistency.</a:t>
            </a:r>
          </a:p>
          <a:p>
            <a:pPr lvl="1"/>
            <a:r>
              <a:rPr lang="en-US" sz="1600" dirty="0"/>
              <a:t>Removed duplicate entries to avoid bias and redundancy in model training.</a:t>
            </a:r>
          </a:p>
          <a:p>
            <a:pPr lvl="1"/>
            <a:r>
              <a:rPr lang="en-US" sz="1600" dirty="0"/>
              <a:t>Detected and treated outliers in price data using statistical techniques such as IQR and visual analysis.</a:t>
            </a:r>
          </a:p>
          <a:p>
            <a:pPr lvl="1"/>
            <a:r>
              <a:rPr lang="en-US" sz="1600" dirty="0"/>
              <a:t>Maintained consistency in categorical variables (Crop Type, Season, State) to ensure uniform data representation.</a:t>
            </a:r>
            <a:endParaRPr lang="en-IN" b="1" dirty="0"/>
          </a:p>
          <a:p>
            <a:pPr marL="0" indent="0">
              <a:buNone/>
            </a:pPr>
            <a:r>
              <a:rPr lang="en-IN" b="1" dirty="0"/>
              <a:t>3.2 Feature Engineering</a:t>
            </a:r>
          </a:p>
          <a:p>
            <a:pPr lvl="1"/>
            <a:r>
              <a:rPr lang="en-US" sz="1600" dirty="0">
                <a:latin typeface="+mj-lt"/>
              </a:rPr>
              <a:t>Performed feature selection by removing irrelevant or non-informative columns and retaining variables that significantly influence crop price, such as demand, supply, weather, and market factors.</a:t>
            </a:r>
          </a:p>
          <a:p>
            <a:pPr lvl="1"/>
            <a:r>
              <a:rPr lang="en-US" sz="1600" dirty="0">
                <a:latin typeface="+mj-lt"/>
              </a:rPr>
              <a:t>Applied feature scaling normalization to numerical variables to ensure uniform range and improve model performance and stability.</a:t>
            </a:r>
          </a:p>
          <a:p>
            <a:pPr lvl="1"/>
            <a:r>
              <a:rPr lang="en-US" sz="1600" dirty="0">
                <a:latin typeface="+mj-lt"/>
              </a:rPr>
              <a:t>Converted categorical variables using encoding techniques (Label Encoding / One-Hot Encoding) for features like Crop Type, Season, and Location to make them suitable for machine learning models.</a:t>
            </a:r>
            <a:endParaRPr lang="en-IN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CB983D-C550-8F90-EBEC-D91554CBB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10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B0C85B-FDF3-B5EB-0FFE-FB40ADF1BE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66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86493-44B3-D5DC-B49F-26988D0F8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8D139-A7AF-63B5-CB85-A045CE948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3. Data Pre-Processing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D6603-E19A-8B11-D36C-8A4165FE7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3.</a:t>
            </a:r>
            <a:r>
              <a:rPr lang="en-US" b="1" dirty="0"/>
              <a:t>3 Data Splitting</a:t>
            </a:r>
          </a:p>
          <a:p>
            <a:r>
              <a:rPr lang="en-US" sz="1600" dirty="0"/>
              <a:t>Divided the dataset into training, validation, and testing sets to ensure proper model evaluation and generalization.</a:t>
            </a:r>
          </a:p>
          <a:p>
            <a:r>
              <a:rPr lang="en-US" sz="1600" dirty="0"/>
              <a:t>Used an 80:10:10 split, where:</a:t>
            </a:r>
          </a:p>
          <a:p>
            <a:r>
              <a:rPr lang="en-US" sz="1600" dirty="0"/>
              <a:t>80% data is used for training</a:t>
            </a:r>
          </a:p>
          <a:p>
            <a:r>
              <a:rPr lang="en-US" sz="1600" dirty="0"/>
              <a:t>10% for validation (hyperparameter tuning)</a:t>
            </a:r>
          </a:p>
          <a:p>
            <a:r>
              <a:rPr lang="en-US" sz="1600" dirty="0"/>
              <a:t>10% for final testing</a:t>
            </a:r>
          </a:p>
          <a:p>
            <a:r>
              <a:rPr lang="en-US" sz="1600" dirty="0"/>
              <a:t>This approach helps in preventing overfitting and ensures reliable performance on unseen data.</a:t>
            </a:r>
            <a:endParaRPr lang="en-IN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781687-FB21-61D3-AF3A-48A0E67D4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11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8985E6-E687-2CA8-269E-D73720A81D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96610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A89AB-4AE7-8C72-9731-C03BDA740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C2688-DD60-0A21-6E6E-61DD33B5B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4. System Design &amp;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89A89-668F-859C-3667-CC4404275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4.1 </a:t>
            </a:r>
            <a:r>
              <a:rPr lang="en-US" sz="2400" b="1" dirty="0"/>
              <a:t>Proposed System Architecture </a:t>
            </a:r>
          </a:p>
          <a:p>
            <a:pPr lvl="1"/>
            <a:r>
              <a:rPr lang="en-US" sz="1600" dirty="0"/>
              <a:t>The system follows a modular architecture, where each component performs a specific task from data input to final output.</a:t>
            </a:r>
          </a:p>
          <a:p>
            <a:pPr lvl="1"/>
            <a:r>
              <a:rPr lang="en-US" sz="1600" dirty="0"/>
              <a:t>User inputs (image or query) are processed through the </a:t>
            </a:r>
            <a:r>
              <a:rPr lang="en-US" sz="1600" dirty="0" err="1"/>
              <a:t>FastAPI</a:t>
            </a:r>
            <a:r>
              <a:rPr lang="en-US" sz="1600" dirty="0"/>
              <a:t> backend, which routes requests to respective modules.</a:t>
            </a:r>
          </a:p>
          <a:p>
            <a:pPr lvl="1"/>
            <a:r>
              <a:rPr lang="en-US" sz="1600" dirty="0"/>
              <a:t>The Plant Disease Detection module analyzes leaf images using a CNN/YOLO11 model to predict diseases with confidence scores.</a:t>
            </a:r>
          </a:p>
          <a:p>
            <a:pPr lvl="1"/>
            <a:r>
              <a:rPr lang="en-US" sz="1600" dirty="0"/>
              <a:t>The outputs from all modules are integrated through a RAG-based chatbot, which generates final, explainable recommendations for the user.</a:t>
            </a:r>
            <a:endParaRPr lang="en-IN" sz="1600" dirty="0"/>
          </a:p>
          <a:p>
            <a:pPr marL="0" indent="0">
              <a:buNone/>
            </a:pPr>
            <a:r>
              <a:rPr lang="en-IN" b="1" dirty="0"/>
              <a:t>4.2 Algorithm Selected</a:t>
            </a:r>
          </a:p>
          <a:p>
            <a:pPr lvl="1"/>
            <a:r>
              <a:rPr lang="en-US" sz="1600" dirty="0">
                <a:latin typeface="+mj-lt"/>
              </a:rPr>
              <a:t>Random Forest is used due to its ability to handle non-linear relationships and perform well on structured agricultural data.</a:t>
            </a:r>
          </a:p>
          <a:p>
            <a:pPr lvl="1"/>
            <a:r>
              <a:rPr lang="en-US" sz="1600" dirty="0">
                <a:latin typeface="+mj-lt"/>
              </a:rPr>
              <a:t>Prophet is selected for time-series forecasting as it effectively captures trends and seasonality in crop prices.</a:t>
            </a:r>
          </a:p>
          <a:p>
            <a:pPr lvl="1"/>
            <a:r>
              <a:rPr lang="en-US" sz="1600" dirty="0">
                <a:latin typeface="+mj-lt"/>
              </a:rPr>
              <a:t>An ensemble approach (meta-learner) is used to combine predictions, improving accuracy and robustness compared to single models.</a:t>
            </a:r>
          </a:p>
          <a:p>
            <a:pPr lvl="1"/>
            <a:r>
              <a:rPr lang="en-US" sz="1600" dirty="0">
                <a:latin typeface="+mj-lt"/>
              </a:rPr>
              <a:t>CNN/YOLO models are chosen for disease detection due to their strong performance in image classification and object detection tasks.</a:t>
            </a:r>
            <a:endParaRPr lang="en-IN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A18ACC-FB7C-C9DA-7E11-7D6BCAC80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12</a:t>
            </a:fld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81417B-2F4F-3963-CF7C-4800336FD5D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1224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7010C-22C0-55DB-94CD-45A8F70C4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5F9EB-6941-83A8-C283-B97C64FF4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4. System Design &amp;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99A87-CD57-E356-8280-CD7297DD6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5850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4.</a:t>
            </a:r>
            <a:r>
              <a:rPr lang="en-US" b="1" dirty="0"/>
              <a:t>3 Mathematical Model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 algn="ctr">
              <a:buNone/>
            </a:pPr>
            <a:r>
              <a:rPr lang="en-US" sz="2200" dirty="0"/>
              <a:t>We experimented with multiple models including Random Forest and </a:t>
            </a:r>
            <a:r>
              <a:rPr lang="en-US" sz="2200" dirty="0" err="1"/>
              <a:t>XGBoost</a:t>
            </a:r>
            <a:r>
              <a:rPr lang="en-US" sz="2200" dirty="0"/>
              <a:t>. </a:t>
            </a:r>
            <a:r>
              <a:rPr lang="en-US" sz="2200" dirty="0" err="1"/>
              <a:t>XGBoost</a:t>
            </a:r>
            <a:r>
              <a:rPr lang="en-US" sz="2200" dirty="0"/>
              <a:t> showed improved performance due to its boosting approach and ability to capture complex relationships in the data</a:t>
            </a:r>
            <a:r>
              <a:rPr lang="en-US" sz="2400" dirty="0"/>
              <a:t>.</a:t>
            </a:r>
          </a:p>
          <a:p>
            <a:pPr marL="0" indent="0" algn="ctr">
              <a:buNone/>
            </a:pPr>
            <a:r>
              <a:rPr lang="en-US" sz="2400" dirty="0"/>
              <a:t>Random Forest was used as a baseline model for comparison.</a:t>
            </a:r>
            <a:endParaRPr lang="en-US" sz="24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6D0F2D-69E0-880F-8E08-DB9D4683A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13</a:t>
            </a:fld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C6D12D-3046-7226-143C-60C24CB49FC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87E00D-7712-BAB2-E99B-17A196734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864" y="2157235"/>
            <a:ext cx="6430272" cy="2364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2132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4AB65-C003-15AE-BFF2-D076B2F3F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5.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6FC3F-5FDB-2AD3-2910-FAEFC4849D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0783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5.1 Baseline Model Results</a:t>
            </a:r>
          </a:p>
          <a:p>
            <a:pPr lvl="1"/>
            <a:r>
              <a:rPr lang="en-US" sz="1600" dirty="0"/>
              <a:t>Implemented a </a:t>
            </a:r>
            <a:r>
              <a:rPr lang="en-US" sz="1600" b="1" dirty="0"/>
              <a:t>baseline model using Random Forest</a:t>
            </a:r>
            <a:r>
              <a:rPr lang="en-US" sz="1600" dirty="0"/>
              <a:t> for crop price prediction to establish initial performance.</a:t>
            </a:r>
          </a:p>
          <a:p>
            <a:pPr lvl="1"/>
            <a:r>
              <a:rPr lang="en-US" sz="1600" dirty="0"/>
              <a:t>The model was trained on processed features such as demand, supply, weather, and market factors.</a:t>
            </a:r>
          </a:p>
          <a:p>
            <a:pPr lvl="1"/>
            <a:r>
              <a:rPr lang="en-US" sz="1600" dirty="0"/>
              <a:t>Initial results showed </a:t>
            </a:r>
            <a:r>
              <a:rPr lang="en-US" sz="1600" b="1" dirty="0"/>
              <a:t>89% accuracy</a:t>
            </a:r>
            <a:r>
              <a:rPr lang="en-US" sz="1600" dirty="0"/>
              <a:t>, but with scope for improvement in capturing complex patterns.</a:t>
            </a:r>
          </a:p>
          <a:p>
            <a:pPr marL="685800" lvl="2" indent="0">
              <a:buNone/>
            </a:pPr>
            <a:endParaRPr lang="en-US" sz="100" dirty="0"/>
          </a:p>
          <a:p>
            <a:pPr marL="342900" lvl="1" indent="0">
              <a:buNone/>
            </a:pPr>
            <a:endParaRPr lang="en-US" sz="1600" dirty="0"/>
          </a:p>
          <a:p>
            <a:pPr marL="342900" lvl="1" indent="0">
              <a:buNone/>
            </a:pPr>
            <a:endParaRPr lang="en-US" sz="1600" dirty="0"/>
          </a:p>
          <a:p>
            <a:pPr marL="342900" lvl="1" indent="0">
              <a:buNone/>
            </a:pPr>
            <a:r>
              <a:rPr lang="en-US" sz="2100" b="1" dirty="0"/>
              <a:t>5.2 Performance Metrics</a:t>
            </a:r>
          </a:p>
          <a:p>
            <a:pPr lvl="1"/>
            <a:r>
              <a:rPr lang="en-US" sz="1600" dirty="0"/>
              <a:t>Used regression evaluation metrics:</a:t>
            </a:r>
          </a:p>
          <a:p>
            <a:pPr lvl="1"/>
            <a:r>
              <a:rPr lang="en-US" sz="1600" dirty="0"/>
              <a:t>MAE (Mean Absolute Error) → measures average prediction error</a:t>
            </a:r>
          </a:p>
          <a:p>
            <a:pPr lvl="1"/>
            <a:r>
              <a:rPr lang="en-US" sz="1600" dirty="0"/>
              <a:t>RMSE (Root Mean Squared Error) → penalizes larger errors</a:t>
            </a:r>
          </a:p>
          <a:p>
            <a:pPr lvl="1"/>
            <a:r>
              <a:rPr lang="en-US" sz="1600" dirty="0"/>
              <a:t>These metrics helped in </a:t>
            </a:r>
            <a:r>
              <a:rPr lang="en-US" sz="1600" b="1" dirty="0"/>
              <a:t>quantifying model accuracy</a:t>
            </a:r>
            <a:r>
              <a:rPr lang="en-US" sz="1600" dirty="0"/>
              <a:t> and comparing different algorithms effectively.</a:t>
            </a:r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r>
              <a:rPr lang="en-US" sz="1600" dirty="0"/>
              <a:t>Hypothetical results obtained: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0B1335-74CB-374A-261F-CFE234418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14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96713B-29D7-0764-CAA1-451AED2184F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3A60887-CBE5-95DF-1A75-22DCF28AAC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9191984"/>
              </p:ext>
            </p:extLst>
          </p:nvPr>
        </p:nvGraphicFramePr>
        <p:xfrm>
          <a:off x="968828" y="5006658"/>
          <a:ext cx="10515600" cy="118872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14524515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41149184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7193797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RMSE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7135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10838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Prophet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85317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XGBoost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690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24461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57892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C7743-C538-555B-E5AC-A715C82AB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C1733-0E7E-D023-6F94-59E69082C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5.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4E122-C865-1598-F8DE-21CDC40FB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0783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5.3 Comparative Analysis</a:t>
            </a:r>
          </a:p>
          <a:p>
            <a:pPr marL="342900" lvl="1" indent="0">
              <a:buNone/>
            </a:pPr>
            <a:r>
              <a:rPr lang="en-US" sz="1600" b="1" dirty="0"/>
              <a:t>Compared multiple models including:</a:t>
            </a:r>
          </a:p>
          <a:p>
            <a:pPr lvl="1"/>
            <a:r>
              <a:rPr lang="en-US" sz="1600" dirty="0"/>
              <a:t>Random Forest (baseline)</a:t>
            </a:r>
          </a:p>
          <a:p>
            <a:pPr lvl="1"/>
            <a:r>
              <a:rPr lang="en-US" sz="1600" dirty="0"/>
              <a:t>Prophet (time-series model)</a:t>
            </a:r>
          </a:p>
          <a:p>
            <a:pPr lvl="1"/>
            <a:r>
              <a:rPr lang="en-US" sz="1600" dirty="0" err="1"/>
              <a:t>XGBoost</a:t>
            </a:r>
            <a:r>
              <a:rPr lang="en-US" sz="1600" dirty="0"/>
              <a:t> (advanced boosting model)</a:t>
            </a:r>
          </a:p>
          <a:p>
            <a:pPr marL="0" indent="0">
              <a:buNone/>
            </a:pPr>
            <a:r>
              <a:rPr lang="en-US" b="1" dirty="0"/>
              <a:t>Observations:</a:t>
            </a:r>
          </a:p>
          <a:p>
            <a:pPr lvl="1"/>
            <a:r>
              <a:rPr lang="en-US" sz="1600" dirty="0"/>
              <a:t>Random Forest provided stable baseline performance</a:t>
            </a:r>
          </a:p>
          <a:p>
            <a:pPr lvl="1"/>
            <a:r>
              <a:rPr lang="en-US" sz="1600" dirty="0"/>
              <a:t>Prophet captured trend and seasonality, but had higher error</a:t>
            </a:r>
          </a:p>
          <a:p>
            <a:pPr lvl="1"/>
            <a:r>
              <a:rPr lang="en-US" sz="1600" dirty="0" err="1"/>
              <a:t>XGBoost</a:t>
            </a:r>
            <a:r>
              <a:rPr lang="en-US" sz="1600" dirty="0"/>
              <a:t> achieved lowest MAE and RMSE, showing better accuracy</a:t>
            </a:r>
          </a:p>
          <a:p>
            <a:pPr marL="0" indent="0">
              <a:buNone/>
            </a:pPr>
            <a:r>
              <a:rPr lang="en-US" b="1" dirty="0"/>
              <a:t>Ensemble approach combines predictions:</a:t>
            </a:r>
          </a:p>
          <a:p>
            <a:pPr lvl="1"/>
            <a:r>
              <a:rPr lang="en-US" sz="1600" dirty="0"/>
              <a:t>Improves robustness</a:t>
            </a:r>
          </a:p>
          <a:p>
            <a:pPr lvl="1"/>
            <a:r>
              <a:rPr lang="en-US" sz="1600" dirty="0"/>
              <a:t>Reduces prediction error further (approx. RMSE ≈ 650)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B63914-35A5-0BA7-F150-9AEFB2DB0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15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016F58-DCBF-CDCD-8E76-7108DD9326D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16634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24007-9FB3-B5F4-ED6F-5BD10CC2B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24959-4648-729A-B700-2D48EF0EF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6. Challenges and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99A74-E2C3-4474-F608-2FEA45B65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0783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6.1 Technical Hurdles</a:t>
            </a:r>
          </a:p>
          <a:p>
            <a:pPr lvl="1"/>
            <a:r>
              <a:rPr lang="en-US" sz="1600" dirty="0"/>
              <a:t>The dataset contains non-normal and highly skewed price distribution, making it difficult for traditional models to perform effectively.</a:t>
            </a:r>
          </a:p>
          <a:p>
            <a:pPr lvl="1"/>
            <a:r>
              <a:rPr lang="en-US" sz="1600" dirty="0"/>
              <a:t>Presence of multi-crop data with large price variation (e.g., Tea vs Wheat) leads to inconsistent patterns.</a:t>
            </a:r>
          </a:p>
          <a:p>
            <a:pPr lvl="1"/>
            <a:r>
              <a:rPr lang="en-US" sz="1600" dirty="0"/>
              <a:t>Some features appear synthetic or weakly correlated (e.g., season, normalized variables), reducing model effectiveness.</a:t>
            </a:r>
          </a:p>
          <a:p>
            <a:pPr lvl="1"/>
            <a:r>
              <a:rPr lang="en-US" sz="1600" dirty="0"/>
              <a:t>Handling time-series patterns and trend variations in crop prices adds complexity.</a:t>
            </a:r>
          </a:p>
          <a:p>
            <a:pPr lvl="1"/>
            <a:r>
              <a:rPr lang="en-US" sz="1600" dirty="0"/>
              <a:t>Integration of multiple modules (disease detection + prediction + chatbot) increases system complexity</a:t>
            </a:r>
          </a:p>
          <a:p>
            <a:pPr marL="0" indent="0">
              <a:buNone/>
            </a:pPr>
            <a:r>
              <a:rPr lang="en-US" b="1" dirty="0"/>
              <a:t>6.2 Mitigations</a:t>
            </a:r>
          </a:p>
          <a:p>
            <a:pPr lvl="1"/>
            <a:r>
              <a:rPr lang="en-US" sz="1600" dirty="0"/>
              <a:t>Applied log transformation and feature engineering to reduce skewness and improve data distribution.</a:t>
            </a:r>
          </a:p>
          <a:p>
            <a:pPr lvl="1"/>
            <a:r>
              <a:rPr lang="en-US" sz="1600" dirty="0"/>
              <a:t>Performed crop-wise analysis to better capture meaningful patterns instead of mixing all crops together.</a:t>
            </a:r>
          </a:p>
          <a:p>
            <a:pPr lvl="1"/>
            <a:r>
              <a:rPr lang="en-US" sz="1600" dirty="0"/>
              <a:t>Used ensemble learning (Random Forest + </a:t>
            </a:r>
            <a:r>
              <a:rPr lang="en-US" sz="1600" dirty="0" err="1"/>
              <a:t>XGBoost</a:t>
            </a:r>
            <a:r>
              <a:rPr lang="en-US" sz="1600" dirty="0"/>
              <a:t> + Prophet) to improve robustness and accuracy.</a:t>
            </a:r>
          </a:p>
          <a:p>
            <a:pPr lvl="1"/>
            <a:r>
              <a:rPr lang="en-US" sz="1600" dirty="0"/>
              <a:t>Selected relevant features and removed redundant ones to enhance model performance.</a:t>
            </a:r>
          </a:p>
          <a:p>
            <a:pPr lvl="1"/>
            <a:r>
              <a:rPr lang="en-US" sz="1600" dirty="0"/>
              <a:t>Designed a modular API-based architecture to simplify integration and scalability.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29821A-C885-E7C3-88E0-8CD8A6F24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16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F2D746-7096-5E6E-5E1C-B79856AED7D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1814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1376F-F132-4BE5-9B04-CDFEC68F5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E0C8D-4723-2EE9-DCBE-A1E109649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7. Future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7A8D8-39F3-CA25-FF70-A3E961A6D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0783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7.1 Pending Tasks</a:t>
            </a:r>
          </a:p>
          <a:p>
            <a:pPr lvl="1"/>
            <a:r>
              <a:rPr lang="en-US" sz="1600" dirty="0"/>
              <a:t>Perform hyperparameter tuning for models (Random Forest, </a:t>
            </a:r>
            <a:r>
              <a:rPr lang="en-US" sz="1600" dirty="0" err="1"/>
              <a:t>XGBoost</a:t>
            </a:r>
            <a:r>
              <a:rPr lang="en-US" sz="1600" dirty="0"/>
              <a:t>) to further improve prediction accuracy.</a:t>
            </a:r>
          </a:p>
          <a:p>
            <a:pPr lvl="1"/>
            <a:r>
              <a:rPr lang="en-US" sz="1600" dirty="0"/>
              <a:t>Finalize and optimize the ensemble model for better performance and stability.</a:t>
            </a:r>
          </a:p>
          <a:p>
            <a:pPr lvl="1"/>
            <a:r>
              <a:rPr lang="en-US" sz="1600" dirty="0"/>
              <a:t>Complete API integration of all modules for seamless system functionality.</a:t>
            </a:r>
          </a:p>
          <a:p>
            <a:pPr lvl="1"/>
            <a:r>
              <a:rPr lang="en-US" sz="1600" dirty="0"/>
              <a:t>Develop a simple user interface (UI) for interaction (image upload + price prediction).</a:t>
            </a:r>
          </a:p>
          <a:p>
            <a:pPr lvl="1"/>
            <a:r>
              <a:rPr lang="en-US" sz="1600" dirty="0"/>
              <a:t>Enhance the RAG-based chatbot for better contextual and explainable responses.</a:t>
            </a:r>
          </a:p>
          <a:p>
            <a:pPr lvl="1"/>
            <a:r>
              <a:rPr lang="en-US" sz="1600" dirty="0"/>
              <a:t>Conduct final testing and validation on unseen 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DE4874-071C-3F39-6C99-B94C60E09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17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A6CBCA-B6AB-DBFA-1159-E2E66869666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29609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2D66D-7B97-4157-5003-07B7A4E15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72CC3-A94E-F2DC-FE82-6881787A0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7. Future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AAE2A-5437-8BFA-B141-E81A5627C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813" y="1690688"/>
            <a:ext cx="10515600" cy="460783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7.1 Gantt Chart (Evaluation3)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41D894-4600-E644-60A8-4C0F1A587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18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E5C68A-C602-2FEA-3D27-90A78B93F9B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C97F70E-F8A8-DBDA-4F6B-7A2D1ACB1E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3024910"/>
              </p:ext>
            </p:extLst>
          </p:nvPr>
        </p:nvGraphicFramePr>
        <p:xfrm>
          <a:off x="838197" y="2182178"/>
          <a:ext cx="10515603" cy="3817620"/>
        </p:xfrm>
        <a:graphic>
          <a:graphicData uri="http://schemas.openxmlformats.org/drawingml/2006/table">
            <a:tbl>
              <a:tblPr>
                <a:tableStyleId>{327F97BB-C833-4FB7-BDE5-3F7075034690}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121576932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780424596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66481975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822701358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77432160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808441235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025860761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Task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Week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Week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Week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Week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Week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Week 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3523891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>
                          <a:solidFill>
                            <a:schemeClr val="tx1"/>
                          </a:solidFill>
                        </a:rPr>
                        <a:t>Model Optimization (RF, </a:t>
                      </a:r>
                      <a:r>
                        <a:rPr lang="en-IN" sz="1300" b="1" dirty="0" err="1">
                          <a:solidFill>
                            <a:schemeClr val="tx1"/>
                          </a:solidFill>
                        </a:rPr>
                        <a:t>XGBoost</a:t>
                      </a:r>
                      <a:r>
                        <a:rPr lang="en-IN" sz="1300" b="1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████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████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101485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>
                          <a:solidFill>
                            <a:schemeClr val="tx1"/>
                          </a:solidFill>
                        </a:rPr>
                        <a:t>Ensemble Model Finalization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████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████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088018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>
                          <a:solidFill>
                            <a:schemeClr val="tx1"/>
                          </a:solidFill>
                        </a:rPr>
                        <a:t>API Integration (</a:t>
                      </a:r>
                      <a:r>
                        <a:rPr lang="en-IN" sz="1300" b="1" dirty="0" err="1">
                          <a:solidFill>
                            <a:schemeClr val="tx1"/>
                          </a:solidFill>
                        </a:rPr>
                        <a:t>FastAPI</a:t>
                      </a:r>
                      <a:r>
                        <a:rPr lang="en-IN" sz="1300" b="1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████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████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151841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>
                          <a:solidFill>
                            <a:schemeClr val="tx1"/>
                          </a:solidFill>
                        </a:rPr>
                        <a:t>Chatbot (RAG) Enhancement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████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████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0715996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>
                          <a:solidFill>
                            <a:schemeClr val="tx1"/>
                          </a:solidFill>
                        </a:rPr>
                        <a:t>UI 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████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████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7284639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>
                          <a:solidFill>
                            <a:schemeClr val="tx1"/>
                          </a:solidFill>
                        </a:rPr>
                        <a:t>Testing &amp; Debugging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████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████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053399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>
                          <a:solidFill>
                            <a:schemeClr val="tx1"/>
                          </a:solidFill>
                        </a:rPr>
                        <a:t>Final Report &amp; PPT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████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2668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36167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39C1A-98D9-F987-A0F2-36FD7531A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9509B-1A8A-9191-58A7-DB36C2515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8. 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353D3-D922-B6E8-64D4-9038ED58F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06287"/>
          </a:xfrm>
        </p:spPr>
        <p:txBody>
          <a:bodyPr/>
          <a:lstStyle/>
          <a:p>
            <a:pPr marL="0" indent="0">
              <a:buNone/>
            </a:pPr>
            <a:r>
              <a:rPr lang="da-DK" sz="1600" b="1" dirty="0"/>
              <a:t>1. Yousaf, A., et al. (2023)</a:t>
            </a:r>
          </a:p>
          <a:p>
            <a:pPr lvl="1"/>
            <a:r>
              <a:rPr lang="en-US" sz="1600" dirty="0"/>
              <a:t>Artificial Intelligence-based Decision Support Systems in Smart Agriculture</a:t>
            </a:r>
          </a:p>
          <a:p>
            <a:pPr lvl="1"/>
            <a:r>
              <a:rPr lang="en-US" sz="1600" dirty="0"/>
              <a:t>Frontiers in Sustainable Food Systems</a:t>
            </a:r>
            <a:endParaRPr lang="en-IN" sz="1600" dirty="0"/>
          </a:p>
          <a:p>
            <a:pPr marL="0" indent="0">
              <a:buNone/>
            </a:pPr>
            <a:r>
              <a:rPr lang="en-US" sz="1600" b="1" dirty="0"/>
              <a:t>2. Intelligent Decision Support System for Smart Agriculture</a:t>
            </a:r>
          </a:p>
          <a:p>
            <a:pPr lvl="1"/>
            <a:r>
              <a:rPr lang="en-IN" sz="1600" dirty="0"/>
              <a:t>IEEE Conference Paper</a:t>
            </a:r>
          </a:p>
          <a:p>
            <a:pPr marL="0" indent="0">
              <a:buNone/>
            </a:pPr>
            <a:r>
              <a:rPr lang="da-DK" sz="1600" b="1" dirty="0"/>
              <a:t>3. Mohanty, S. P., et al. (2016)</a:t>
            </a:r>
          </a:p>
          <a:p>
            <a:pPr lvl="1"/>
            <a:r>
              <a:rPr lang="en-US" sz="1600" dirty="0"/>
              <a:t>Using Deep Learning for Image-Based Plant Disease Detection</a:t>
            </a:r>
          </a:p>
          <a:p>
            <a:pPr lvl="1"/>
            <a:r>
              <a:rPr lang="en-IN" sz="1600" dirty="0"/>
              <a:t>Frontiers in Plant Science</a:t>
            </a:r>
          </a:p>
          <a:p>
            <a:pPr marL="0" indent="0">
              <a:buNone/>
            </a:pPr>
            <a:r>
              <a:rPr lang="en-IN" sz="1600" b="1" dirty="0"/>
              <a:t>4. Taylor, S. J., &amp; Letham, B. (2018)</a:t>
            </a:r>
          </a:p>
          <a:p>
            <a:pPr lvl="1"/>
            <a:r>
              <a:rPr lang="en-IN" sz="1600" dirty="0"/>
              <a:t>Forecasting at Scale (Prophet Model)</a:t>
            </a:r>
          </a:p>
          <a:p>
            <a:pPr marL="0" indent="0">
              <a:buNone/>
            </a:pPr>
            <a:r>
              <a:rPr lang="en-IN" sz="1600" b="1" dirty="0"/>
              <a:t>5. </a:t>
            </a:r>
            <a:r>
              <a:rPr lang="en-IN" sz="1600" b="1" dirty="0" err="1"/>
              <a:t>Breiman</a:t>
            </a:r>
            <a:r>
              <a:rPr lang="en-IN" sz="1600" b="1" dirty="0"/>
              <a:t>, L. (2001)</a:t>
            </a:r>
          </a:p>
          <a:p>
            <a:pPr lvl="1"/>
            <a:r>
              <a:rPr lang="en-US" sz="1600" dirty="0"/>
              <a:t>Random Forests – Machine Learning Journal</a:t>
            </a:r>
            <a:endParaRPr lang="en-IN" sz="1600" dirty="0"/>
          </a:p>
          <a:p>
            <a:pPr marL="0" indent="0">
              <a:buNone/>
            </a:pPr>
            <a:r>
              <a:rPr lang="en-IN" sz="1600" b="1" dirty="0"/>
              <a:t>6. Chen, T., &amp; </a:t>
            </a:r>
            <a:r>
              <a:rPr lang="en-IN" sz="1600" b="1" dirty="0" err="1"/>
              <a:t>Guestrin</a:t>
            </a:r>
            <a:r>
              <a:rPr lang="en-IN" sz="1600" b="1" dirty="0"/>
              <a:t>, C. (2016)</a:t>
            </a:r>
          </a:p>
          <a:p>
            <a:pPr lvl="1"/>
            <a:r>
              <a:rPr lang="en-US" sz="1600" dirty="0" err="1"/>
              <a:t>XGBoost</a:t>
            </a:r>
            <a:r>
              <a:rPr lang="en-US" sz="1600" dirty="0"/>
              <a:t>: A Scalable Tree Boosting System</a:t>
            </a:r>
            <a:endParaRPr lang="en-IN" sz="1600" dirty="0"/>
          </a:p>
          <a:p>
            <a:pPr marL="0" indent="0">
              <a:buNone/>
            </a:pPr>
            <a:r>
              <a:rPr lang="da-DK" sz="1600" b="1" dirty="0"/>
              <a:t>7. Lewis, P., et al. (2020)</a:t>
            </a:r>
          </a:p>
          <a:p>
            <a:pPr lvl="1"/>
            <a:r>
              <a:rPr lang="en-IN" sz="1600" dirty="0"/>
              <a:t>Retrieval-Augmented Generation (RAG) – </a:t>
            </a:r>
            <a:r>
              <a:rPr lang="en-IN" sz="1600" dirty="0" err="1"/>
              <a:t>NeurIPS</a:t>
            </a:r>
            <a:endParaRPr lang="en-IN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06A072-1150-75A9-DA11-B7BC4657A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19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594841-991E-BD1C-96F4-09826C3BCCF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92458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B5584-EADB-F230-8C85-A9F2B66B4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8FCCE-8DD1-414D-A347-49B568D63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8. 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ACED2-BD4B-8CA5-77D1-FB9FBFBC09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07832"/>
          </a:xfrm>
        </p:spPr>
        <p:txBody>
          <a:bodyPr/>
          <a:lstStyle/>
          <a:p>
            <a:pPr marL="0" indent="0">
              <a:buNone/>
            </a:pPr>
            <a:r>
              <a:rPr lang="en-IN" sz="1600" b="1" dirty="0"/>
              <a:t>8. </a:t>
            </a:r>
            <a:r>
              <a:rPr lang="en-IN" sz="1600" b="1" dirty="0" err="1"/>
              <a:t>Roboflow</a:t>
            </a:r>
            <a:r>
              <a:rPr lang="en-IN" sz="1600" b="1" dirty="0"/>
              <a:t> Platform</a:t>
            </a:r>
          </a:p>
          <a:p>
            <a:pPr lvl="1"/>
            <a:r>
              <a:rPr lang="en-US" sz="1600" dirty="0"/>
              <a:t>Computer vision dataset preparation and annotation tool</a:t>
            </a:r>
            <a:endParaRPr lang="en-IN" sz="1600" dirty="0"/>
          </a:p>
          <a:p>
            <a:pPr marL="0" indent="0">
              <a:buNone/>
            </a:pPr>
            <a:r>
              <a:rPr lang="en-US" sz="1600" b="1" dirty="0"/>
              <a:t>9. </a:t>
            </a:r>
            <a:r>
              <a:rPr lang="en-US" sz="1600" b="1" dirty="0" err="1"/>
              <a:t>Agmarknet</a:t>
            </a:r>
            <a:r>
              <a:rPr lang="en-US" sz="1600" b="1" dirty="0"/>
              <a:t> Portal (Government of India)</a:t>
            </a:r>
          </a:p>
          <a:p>
            <a:pPr lvl="1"/>
            <a:r>
              <a:rPr lang="en-IN" sz="1600" dirty="0"/>
              <a:t>Agricultural market price data source</a:t>
            </a:r>
          </a:p>
          <a:p>
            <a:pPr marL="0" indent="0">
              <a:buNone/>
            </a:pPr>
            <a:r>
              <a:rPr lang="en-IN" sz="1600" b="1" dirty="0"/>
              <a:t>10. e-NAM (National Agriculture Market)</a:t>
            </a:r>
          </a:p>
          <a:p>
            <a:pPr lvl="1"/>
            <a:r>
              <a:rPr lang="en-US" sz="1600" dirty="0"/>
              <a:t>Online trading platform for agricultural commodities</a:t>
            </a:r>
            <a:endParaRPr lang="en-IN" sz="1600" dirty="0"/>
          </a:p>
          <a:p>
            <a:pPr marL="0" indent="0">
              <a:buNone/>
            </a:pPr>
            <a:r>
              <a:rPr lang="en-IN" sz="1600" b="1" dirty="0"/>
              <a:t>11. Hastie, T., </a:t>
            </a:r>
            <a:r>
              <a:rPr lang="en-IN" sz="1600" b="1" dirty="0" err="1"/>
              <a:t>Tibshirani</a:t>
            </a:r>
            <a:r>
              <a:rPr lang="en-IN" sz="1600" b="1" dirty="0"/>
              <a:t>, R., &amp; Friedman, J. (2009)</a:t>
            </a:r>
          </a:p>
          <a:p>
            <a:pPr lvl="1"/>
            <a:r>
              <a:rPr lang="en-US" sz="1600" dirty="0"/>
              <a:t>The Elements of Statistical Learning</a:t>
            </a:r>
            <a:endParaRPr lang="en-IN" sz="1600" dirty="0"/>
          </a:p>
          <a:p>
            <a:pPr marL="0" indent="0">
              <a:buNone/>
            </a:pPr>
            <a:r>
              <a:rPr lang="en-US" sz="1600" b="1" dirty="0"/>
              <a:t>12. Goodfellow, I., Bengio, Y., &amp; Courville, A. (2016)</a:t>
            </a:r>
          </a:p>
          <a:p>
            <a:pPr lvl="1"/>
            <a:r>
              <a:rPr lang="en-IN" sz="1600" dirty="0"/>
              <a:t>Deep Learning – MIT Press</a:t>
            </a:r>
          </a:p>
          <a:p>
            <a:pPr marL="0" indent="0">
              <a:buNone/>
            </a:pPr>
            <a:r>
              <a:rPr lang="en-IN" sz="1600" b="1" dirty="0"/>
              <a:t>13. Scikit-learn Documentation</a:t>
            </a:r>
          </a:p>
          <a:p>
            <a:pPr lvl="1"/>
            <a:r>
              <a:rPr lang="en-US" sz="1600" dirty="0"/>
              <a:t>Machine learning library for Python</a:t>
            </a:r>
            <a:endParaRPr lang="en-IN" sz="1600" dirty="0"/>
          </a:p>
          <a:p>
            <a:pPr marL="0" indent="0">
              <a:buNone/>
            </a:pPr>
            <a:r>
              <a:rPr lang="en-IN" sz="1600" b="1" dirty="0"/>
              <a:t>14. TensorFlow / </a:t>
            </a:r>
            <a:r>
              <a:rPr lang="en-IN" sz="1600" b="1" dirty="0" err="1"/>
              <a:t>PyTorch</a:t>
            </a:r>
            <a:r>
              <a:rPr lang="en-IN" sz="1600" b="1" dirty="0"/>
              <a:t> Documentation</a:t>
            </a:r>
          </a:p>
          <a:p>
            <a:pPr lvl="1"/>
            <a:r>
              <a:rPr lang="en-US" sz="1600" dirty="0"/>
              <a:t>Deep learning frameworks for model development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00111-ED23-D061-1615-814C70DF7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20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8B5875-1A13-2D55-BD41-36A20A9A920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63379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F8E86-5643-870D-A5E1-281A29A68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FBD40-7A7E-A94D-7984-CC5CFDD8B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9. 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D59483-0C42-6DE2-02BB-73D2FD47A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21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FBA3CE-F10E-6828-8927-D19CA7E7537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4D117BD-B8C7-1CD8-6338-68D5A8A6B1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708633"/>
            <a:ext cx="10827936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This project proposes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Intelligent Agricultural Decision Support System (IADSS)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that integrates plant disease detection, soil analysis, and crop price prediction into a single AI-driven platform.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By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computer vision, machine learning, ensemble forecasting, and a RAG-based AI chatbot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the system provides accurate, explainable, and actionable recommendations.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 modular and API-based architecture ensures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scalability, flexibility, and ease of integration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 proposed solution addresses major gaps in existing agricultural systems by offering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data-driven, real-time decision support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for farmers.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Overall, the project aims to enhance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crop productivity, resource optimization, and economic decision-making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in smart agriculture.</a:t>
            </a:r>
          </a:p>
        </p:txBody>
      </p:sp>
    </p:spTree>
    <p:extLst>
      <p:ext uri="{BB962C8B-B14F-4D97-AF65-F5344CB8AC3E}">
        <p14:creationId xmlns:p14="http://schemas.microsoft.com/office/powerpoint/2010/main" val="243054518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404_LEC0  -  Compatibility Mode" id="{3BDF6A17-ACBD-4545-BE13-AE1053292383}" vid="{F9445E81-6C4F-4E11-A32D-3F55FC671F1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INT404_LEC0 TEMPLATE</Template>
  <TotalTime>5261</TotalTime>
  <Words>2359</Words>
  <Application>Microsoft Office PowerPoint</Application>
  <PresentationFormat>Widescreen</PresentationFormat>
  <Paragraphs>316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Times New Roman</vt:lpstr>
      <vt:lpstr>Theme1</vt:lpstr>
      <vt:lpstr>PowerPoint Presentation</vt:lpstr>
      <vt:lpstr>Content of Presentation</vt:lpstr>
      <vt:lpstr>PowerPoint Presentation</vt:lpstr>
      <vt:lpstr>1. Introduction</vt:lpstr>
      <vt:lpstr>2. Data Engineering and Understanding</vt:lpstr>
      <vt:lpstr>2. Data Engineering and Understanding</vt:lpstr>
      <vt:lpstr>Proposed System</vt:lpstr>
      <vt:lpstr>RAG Architecture</vt:lpstr>
      <vt:lpstr>Literature review</vt:lpstr>
      <vt:lpstr>3. Data Pre-Processing</vt:lpstr>
      <vt:lpstr>3. Data Pre-Processing</vt:lpstr>
      <vt:lpstr>4. System Design &amp; Methodology</vt:lpstr>
      <vt:lpstr>4. System Design &amp; Methodology</vt:lpstr>
      <vt:lpstr>5. Implementation</vt:lpstr>
      <vt:lpstr>5. Implementation</vt:lpstr>
      <vt:lpstr>6. Challenges and Solutions</vt:lpstr>
      <vt:lpstr>7. Future Plan</vt:lpstr>
      <vt:lpstr>7. Future Plan</vt:lpstr>
      <vt:lpstr>8. References</vt:lpstr>
      <vt:lpstr>8. References</vt:lpstr>
      <vt:lpstr>9.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 Revolution: Be the Change</dc:title>
  <dc:creator>Aashish</dc:creator>
  <cp:lastModifiedBy>Rahul Chand</cp:lastModifiedBy>
  <cp:revision>99</cp:revision>
  <dcterms:created xsi:type="dcterms:W3CDTF">2025-01-04T06:25:56Z</dcterms:created>
  <dcterms:modified xsi:type="dcterms:W3CDTF">2026-03-18T05:45:16Z</dcterms:modified>
</cp:coreProperties>
</file>